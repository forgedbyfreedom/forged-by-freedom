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9EDF1"/>
                </a:solidFill>
                <a:latin typeface="Calibri"/>
              </a:rPr>
              <a:t>Acoustic Drone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5C28E"/>
                </a:solidFill>
                <a:latin typeface="Calibri"/>
              </a:rPr>
              <a:t>Passive multi-layer detection • RF-fusion ready • laptop proof-of-concept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AA6B2"/>
                </a:solidFill>
                <a:latin typeface="Calibri"/>
              </a:rPr>
              <a:t>Capabilities, Range &amp; Phased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6B2"/>
                </a:solidFill>
                <a:latin typeface="Calibri"/>
              </a:rPr>
              <a:t>Prepared for Forged by Freedom  •  Prototype / planning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9EDF1"/>
                </a:solidFill>
                <a:latin typeface="Calibri"/>
              </a:rPr>
              <a:t>•  Goal: passively detect drones by their acoustic signature, with no transmissions of our own.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Core principle: a drone is not one tone — it is a structured, persistent, modulated harmonic stack. We detect the structure, not just sound in a band.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5C28E"/>
                </a:solidFill>
                <a:latin typeface="Calibri"/>
              </a:rPr>
              <a:t>•  Five cooperating layers reject the everyday confusers (fans, leaf blowers, RC planes, HVAC, traffic, insects):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Harmonic stack — blade-pass fundamental + its overtones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Persistence — must hold for several seconds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Multi-rotor beat — multiple props slightly out of sync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RPM modulation — the tell-tale hover 'wobble'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Direction-of-arrival — bearing from a mic array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Designed to fuse with a separate RF detection system: RF gives long-range early warning, acoustic confirms and catches RF-silent / autonomous drones.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•  Working software prototype already validated on synthetic + recorded audio. Laptop proof-of-concept needs ~$40–110 in parts.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WHY IT'S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Frequency Alone Always False-Alarms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9EDF1"/>
                </a:solidFill>
                <a:latin typeface="Calibri"/>
              </a:rPr>
              <a:t>•  Propeller noise overlaps heavily with: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Fans, HVAC, compressors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Leaf blowers, lawn equipment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RC planes / other hobby craft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Traffic, insects, wind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•  Monitoring 'one clean band' cannot isolate drones — there is no clean band.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303520" cy="484632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5C28E"/>
                </a:solidFill>
                <a:latin typeface="Calibri"/>
              </a:rPr>
              <a:t>•  The fix: require a PATTERN, not a frequency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steady multi-tone harmonic stack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repeated signature lasting seconds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rapid RPM modulation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multiple props slightly out of sync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directional confirmation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cross-check with RF / video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Each layer a confuser must defeat simultaneously — which they almost never 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THE SIGNATURE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Acoustic Physics — Blade-Pass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9EDF1"/>
                </a:solidFill>
                <a:latin typeface="Calibri"/>
              </a:rPr>
              <a:t>•  Blade-pass frequency (BPF) = the fundamental tone:</a:t>
            </a:r>
          </a:p>
          <a:p>
            <a:pPr lvl="1">
              <a:spcAft>
                <a:spcPts val="800"/>
              </a:spcAft>
            </a:pPr>
            <a:r>
              <a:rPr sz="1400" b="1">
                <a:solidFill>
                  <a:srgbClr val="FF7A18"/>
                </a:solidFill>
                <a:latin typeface="Calibri"/>
              </a:rPr>
              <a:t>–  BPF = RPM ÷ 60 × number of blades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E9EDF1"/>
                </a:solidFill>
                <a:latin typeface="Calibri"/>
              </a:rPr>
              <a:t>•  Examples: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2-blade @ 6,000 RPM = 200 Hz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3-blade @ 6,000 RPM = 300 Hz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Big slow heavy-lift prop ≈ 60–250 Hz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Then the harmonics: 2×, 3×, 4×, 5× BPF, often reaching 1–5 kHz.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Motor/ESC whine: ~4–12 kHz (close-in only — dies fast outdoors).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257800" cy="484632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5C28E"/>
                </a:solidFill>
                <a:latin typeface="Calibri"/>
              </a:rPr>
              <a:t>•  Band plan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Low  50–700 Hz — blade-pass + low harmonics (range workhorse)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Mid  700 Hz–5 kHz — harmonic stack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High 5–12 kHz — ESC/motor whine (short range)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Low frequencies barely attenuate in air → they carry far. High frequencies fade within ~100 m outdoors.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•  Heavy-lift = low fundamental + loud = excellent acoustic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The Five Detection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57600" cy="224028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57600" cy="508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1 · Harmonic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Find a fundamental in 50–700 Hz with ≥3 overtones above the local noise floor.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657600" cy="224028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657600" cy="50800"/>
          </a:xfrm>
          <a:prstGeom prst="rect">
            <a:avLst/>
          </a:prstGeom>
          <a:solidFill>
            <a:srgbClr val="35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087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5C28E"/>
                </a:solidFill>
                <a:latin typeface="Calibri"/>
              </a:rPr>
              <a:t>2 ·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Signature must reappear for ~3 s before alerting. Kills one-off transients.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371600"/>
            <a:ext cx="3657600" cy="224028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371600"/>
            <a:ext cx="3657600" cy="508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3 · Multi-rotor beat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574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Two fundamentals a few Hz apart = multiple desynced rotors (hexa/octo).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840480"/>
            <a:ext cx="3657600" cy="224028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3657600" cy="50800"/>
          </a:xfrm>
          <a:prstGeom prst="rect">
            <a:avLst/>
          </a:prstGeom>
          <a:solidFill>
            <a:srgbClr val="35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77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5C28E"/>
                </a:solidFill>
                <a:latin typeface="Calibri"/>
              </a:rPr>
              <a:t>4 · RPM modulation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2628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Hover causes a small rapid 'wobble' in the fundamental. Steady tones do not.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840480"/>
            <a:ext cx="3657600" cy="224028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840480"/>
            <a:ext cx="3657600" cy="508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977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5 · Direction (DOA)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52628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Mic array + SRP-PHAT gives a bearing and rejects diffuse background noise.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3840480"/>
            <a:ext cx="3657600" cy="224028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3840480"/>
            <a:ext cx="3657600" cy="50800"/>
          </a:xfrm>
          <a:prstGeom prst="rect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9776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9AA6B2"/>
                </a:solidFill>
                <a:latin typeface="Calibri"/>
              </a:rPr>
              <a:t>Fusion-ready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52628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Outputs structured detections for cross-checking with the RF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Laptop Setup — Signal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447" y="2377440"/>
            <a:ext cx="1691640" cy="137160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447" y="2377440"/>
            <a:ext cx="1691640" cy="50800"/>
          </a:xfrm>
          <a:prstGeom prst="rect">
            <a:avLst/>
          </a:prstGeom>
          <a:solidFill>
            <a:srgbClr val="35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" y="256032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9EDF1"/>
                </a:solidFill>
                <a:latin typeface="Calibri"/>
              </a:rPr>
              <a:t>USB mic
(or pair)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1087" y="2788920"/>
            <a:ext cx="164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7A1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5679" y="2377440"/>
            <a:ext cx="1691640" cy="137160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5679" y="2377440"/>
            <a:ext cx="1691640" cy="50800"/>
          </a:xfrm>
          <a:prstGeom prst="rect">
            <a:avLst/>
          </a:prstGeom>
          <a:solidFill>
            <a:srgbClr val="35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5679" y="256032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9EDF1"/>
                </a:solidFill>
                <a:latin typeface="Calibri"/>
              </a:rPr>
              <a:t>Laptop
audio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7319" y="2788920"/>
            <a:ext cx="164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7A1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1911" y="2377440"/>
            <a:ext cx="1691640" cy="137160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1911" y="2377440"/>
            <a:ext cx="1691640" cy="508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1911" y="256032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9EDF1"/>
                </a:solidFill>
                <a:latin typeface="Calibri"/>
              </a:rPr>
              <a:t>FFT +
harmonic
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3551" y="2788920"/>
            <a:ext cx="164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7A1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2377440"/>
            <a:ext cx="1691640" cy="137160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8143" y="2377440"/>
            <a:ext cx="1691640" cy="508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8143" y="256032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9EDF1"/>
                </a:solidFill>
                <a:latin typeface="Calibri"/>
              </a:rPr>
              <a:t>5-layer
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9783" y="2788920"/>
            <a:ext cx="164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7A1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4375" y="2377440"/>
            <a:ext cx="1691640" cy="137160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34375" y="2377440"/>
            <a:ext cx="1691640" cy="508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4375" y="256032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9EDF1"/>
                </a:solidFill>
                <a:latin typeface="Calibri"/>
              </a:rPr>
              <a:t>Detection
+ bearing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6015" y="2788920"/>
            <a:ext cx="164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7A1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0607" y="2377440"/>
            <a:ext cx="1691640" cy="137160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90607" y="2377440"/>
            <a:ext cx="1691640" cy="50800"/>
          </a:xfrm>
          <a:prstGeom prst="rect">
            <a:avLst/>
          </a:prstGeom>
          <a:solidFill>
            <a:srgbClr val="35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0607" y="2560320"/>
            <a:ext cx="1691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9EDF1"/>
                </a:solidFill>
                <a:latin typeface="Calibri"/>
              </a:rPr>
              <a:t>→ RF system
fusion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Pure-numpy analysis path runs on any modern laptop — no GPU, no cloud, no API keys.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5C28E"/>
                </a:solidFill>
                <a:latin typeface="Calibri"/>
              </a:rPr>
              <a:t>•  Validate today for $0: feed it a recorded drone flyby (YouTube → 16-bit WAV) before buying any hardware.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Add one USB mic for live single-channel detection; add a 4-mic array for live bearing.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BILL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Proof-of-Concept on a Laptop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Cost (USD)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Laptop you already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6596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Runs the detector (numpy). No GPU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9659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Recorded drone clips → WAV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688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Validate the DSP before buying anything.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4688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Dayton iMM-6 (or USB MEMS mic)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9718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Single-channel live measurement mic.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9718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$25–60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USB mic OR ReSpeaker 4-Mic Array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47472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4 mics = live bearing (direction).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47472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$70 (array)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Furry windscreen / dead-cat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9776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Mandatory outdoors — kills wind in low band.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97764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$10–25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USB extension / tripod clip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48056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Place mic away from laptop fan noise.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4805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11247120" cy="50292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TOTAL — single mic POC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9834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Prove detection + RPM/beat 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9834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≈ $40–95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47120" cy="50292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486400"/>
            <a:ext cx="37490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TOTAL — array POC (with DOA)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48640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Adds live direction-of-arrival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4864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≈ $90–110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Detection Range — Acoustic (night / quiet)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9EDF1"/>
                </a:solidFill>
                <a:latin typeface="Calibri"/>
              </a:rPr>
              <a:t>•  Small consumer drone (~70 dB @1m):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Quiet rural night: ~150–300 m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9AA6B2"/>
                </a:solidFill>
                <a:latin typeface="Calibri"/>
              </a:rPr>
              <a:t>–  Quiet suburban: ~80–150 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•  Heavy-lift electric + payload (~85–95 dB @1m):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Quiet rural night: ~0.8–1.5 km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Loudest builds, dead calm: ~2 km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Quiet suburban: ~300–700 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9AA6B2"/>
                </a:solidFill>
                <a:latin typeface="Calibri"/>
              </a:rPr>
              <a:t>•  Classification range ≈ 60–70% of raw detection range.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25880"/>
            <a:ext cx="5257800" cy="484632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5C28E"/>
                </a:solidFill>
                <a:latin typeface="Calibri"/>
              </a:rPr>
              <a:t>•  Range multipliers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Parabolic / shotgun mic: +10–20 dB in-beam → 2–3× range in that sector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4-mic array beamforming: ~6 dB + noise rejection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Night + quiet = lowest noise floor = best case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•  Range killers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Wind (raises low-band floor — use windscreen)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Terrain / obstructions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Combined with RF — Fusion Envelope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383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7A18"/>
                </a:solidFill>
                <a:latin typeface="Calibri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54480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7A18"/>
                </a:solidFill>
                <a:latin typeface="Calibri"/>
              </a:rPr>
              <a:t>Effective range (night/quiet)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554480"/>
            <a:ext cx="2103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7A18"/>
                </a:solidFill>
                <a:latin typeface="Calibri"/>
              </a:rPr>
              <a:t>Driven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12471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3383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RF-emitting consumer drone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331720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~1–3 km early warning; acoustic confirms last 150–300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331720"/>
            <a:ext cx="2103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RF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11247120" cy="77724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3383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Heavy-lift, RF-emitting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108960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RF 1–5 km + acoustic 0.8–2 km (heavy overlap)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108960"/>
            <a:ext cx="2103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RF + acoustic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11247120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86200"/>
            <a:ext cx="3383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RF-silent / autonomous drone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886200"/>
            <a:ext cx="5303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~150 m–2 km depending on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886200"/>
            <a:ext cx="2103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Acoustic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1064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5C28E"/>
                </a:solidFill>
                <a:latin typeface="Calibri"/>
              </a:rPr>
              <a:t>Fusion's payoff is confidence + coverage, not just range: </a:t>
            </a:r>
            <a:r>
              <a:rPr sz="1500" b="0">
                <a:solidFill>
                  <a:srgbClr val="E9EDF1"/>
                </a:solidFill>
                <a:latin typeface="Calibri"/>
              </a:rPr>
              <a:t>a track confirmed on both modalities is high-trust and low-false-alarm, and the union means you are blind to neither the RF-silent drone (acoustic catches it) nor the distant emitter (RF catches it).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HONEST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What This Does Not Do (yet)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Acoustic is a close-in layer, not perimeter radar — range is tens of meters to ~2 km, weather-dependent.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Bearing from a small array is coarse at low frequency (physics, not code). A larger baseline or high-harmonic steering is needed for tight bearings.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Multi-rotor 'beat' flag is reliable as binary; exact beat value is coarse (FFT resolution).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Wind degrades performance fast — windscreen + siting matter as much as the mic.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Acoustic alone will still occasionally confuse loud RC craft / equipment — that's why RF cross-check matters before acting.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•  No classification of make/model yet (that's a future ML phase). Current output: 'drone-like acoustic signature, bearing X, multi-rotor yes/no.'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Phased Development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713232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3500" cy="713232"/>
          </a:xfrm>
          <a:prstGeom prst="rect">
            <a:avLst/>
          </a:prstGeom>
          <a:solidFill>
            <a:srgbClr val="35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5C28E"/>
                </a:solidFill>
                <a:latin typeface="Calibri"/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17320"/>
            <a:ext cx="2651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9EDF1"/>
                </a:solidFill>
                <a:latin typeface="Calibri"/>
              </a:rPr>
              <a:t>Laptop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17320"/>
            <a:ext cx="6675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6B2"/>
                </a:solidFill>
                <a:latin typeface="Calibri"/>
              </a:rPr>
              <a:t>Validate DSP on recordings + 1 mic. $0–95.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03704"/>
            <a:ext cx="11247120" cy="713232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03704"/>
            <a:ext cx="63500" cy="713232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03704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7A18"/>
                </a:solidFill>
                <a:latin typeface="Calibri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203704"/>
            <a:ext cx="2651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9EDF1"/>
                </a:solidFill>
                <a:latin typeface="Calibri"/>
              </a:rPr>
              <a:t>Single field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203704"/>
            <a:ext cx="6675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6B2"/>
                </a:solidFill>
                <a:latin typeface="Calibri"/>
              </a:rPr>
              <a:t>Raspberry Pi + 4-mic array, weatherproof. Live bearing. ~$180–250.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90088"/>
            <a:ext cx="11247120" cy="713232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90088"/>
            <a:ext cx="63500" cy="713232"/>
          </a:xfrm>
          <a:prstGeom prst="rect">
            <a:avLst/>
          </a:prstGeom>
          <a:solidFill>
            <a:srgbClr val="35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90088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5C28E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990088"/>
            <a:ext cx="2651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9EDF1"/>
                </a:solidFill>
                <a:latin typeface="Calibri"/>
              </a:rPr>
              <a:t>Directional / range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990088"/>
            <a:ext cx="6675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6B2"/>
                </a:solidFill>
                <a:latin typeface="Calibri"/>
              </a:rPr>
              <a:t>Parabolic or shotgun mic for 2 km+ in a sector. ~$350–650.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76472"/>
            <a:ext cx="11247120" cy="713232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76472"/>
            <a:ext cx="63500" cy="713232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76472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7A18"/>
                </a:solidFill>
                <a:latin typeface="Calibr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776472"/>
            <a:ext cx="2651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9EDF1"/>
                </a:solidFill>
                <a:latin typeface="Calibri"/>
              </a:rPr>
              <a:t>Multi-node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776472"/>
            <a:ext cx="6675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6B2"/>
                </a:solidFill>
                <a:latin typeface="Calibri"/>
              </a:rPr>
              <a:t>3+ nodes triangulate position, not just bearing. Mesh / LoRa backhaul.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62856"/>
            <a:ext cx="11247120" cy="713232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562856"/>
            <a:ext cx="63500" cy="713232"/>
          </a:xfrm>
          <a:prstGeom prst="rect">
            <a:avLst/>
          </a:prstGeom>
          <a:solidFill>
            <a:srgbClr val="35C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62856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5C28E"/>
                </a:solidFill>
                <a:latin typeface="Calibri"/>
              </a:rP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562856"/>
            <a:ext cx="2651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9EDF1"/>
                </a:solidFill>
                <a:latin typeface="Calibri"/>
              </a:rPr>
              <a:t>RF + acoustic 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562856"/>
            <a:ext cx="6675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6B2"/>
                </a:solidFill>
                <a:latin typeface="Calibri"/>
              </a:rPr>
              <a:t>Unified track table; correlate RF DF with acoustic bearing.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11247120" cy="713232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63500" cy="713232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349240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7A18"/>
                </a:solidFill>
                <a:latin typeface="Calibri"/>
              </a:rPr>
              <a:t>Phase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349240"/>
            <a:ext cx="2651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9EDF1"/>
                </a:solidFill>
                <a:latin typeface="Calibri"/>
              </a:rPr>
              <a:t>ML classification + cueing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349240"/>
            <a:ext cx="6675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6B2"/>
                </a:solidFill>
                <a:latin typeface="Calibri"/>
              </a:rPr>
              <a:t>Train classifier on signatures; auto-slew a PTZ camera to bearing.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Expansion Opportunities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•  Sensing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ML signature classifier (make/model/payload-state)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High-harmonic DOA for tight bearings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Optical / IR camera slewed to acoustic bearing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Rotor-count + RPM estimation from beat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5C28E"/>
                </a:solidFill>
                <a:latin typeface="Calibri"/>
              </a:rPr>
              <a:t>•  System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Multi-node TDOA → true GPS position + track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Unified fusion dashboard with RF DF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Mesh / LoRa backhaul for remote nodes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Alerting: SMS / app / siren / log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E9EDF1"/>
                </a:solidFill>
                <a:latin typeface="Calibri"/>
              </a:rPr>
              <a:t>–  Solar + battery for off-grid perimeter nodes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Indicative Cost by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658368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3566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554480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2468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FF7A18"/>
                </a:solidFill>
                <a:latin typeface="Calibri"/>
              </a:rPr>
              <a:t>Indicative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12848"/>
            <a:ext cx="3566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0 · Laptop 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12848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Prove the detection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12848"/>
            <a:ext cx="2468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$0–95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11247120" cy="658368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71216"/>
            <a:ext cx="3566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1 · Single 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71216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24/7 field node, live bearing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871216"/>
            <a:ext cx="2468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$180–250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112471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29584"/>
            <a:ext cx="3566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2 · Directional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529584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Long-range (2 km+) sector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529584"/>
            <a:ext cx="2468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$350–650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87952"/>
            <a:ext cx="11247120" cy="658368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2"/>
            <a:ext cx="3566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3 · 3-node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187952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Position/triangulation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187952"/>
            <a:ext cx="2468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~$700–1,500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1124712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3566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4 · RF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846320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Software integration (uses existing RF kit)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846320"/>
            <a:ext cx="2468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Mostly dev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04688"/>
            <a:ext cx="11247120" cy="658368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504688"/>
            <a:ext cx="3566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5 · ML + cueing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504688"/>
            <a:ext cx="4846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Classification + camera slew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504688"/>
            <a:ext cx="24688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E9EDF1"/>
                </a:solidFill>
                <a:latin typeface="Calibri"/>
              </a:rPr>
              <a:t>Dev + ~$150–600 optics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6B2"/>
                </a:solidFill>
                <a:latin typeface="Calibri"/>
              </a:rPr>
              <a:t>Costs are indicative hobby/prototype pricing, USD; exclude labor. Confirm current part prices before purchase.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7A18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9EDF1"/>
                </a:solidFill>
                <a:latin typeface="Calibri"/>
              </a:rPr>
              <a:t>Recommended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9EDF1"/>
                </a:solidFill>
                <a:latin typeface="Calibri"/>
              </a:rPr>
              <a:t>•  1. Validate for $0 — run the detector against 3–5 recorded heavy-lift drone clips. Confirm it locks the harmonic stack + flags multi-rotor.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2. Buy the single-mic POC kit (~$40–95) and test live against a known drone at measured distances to calibrate real-world range.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3. Add the 4-mic array to bring up live bearing; tune band weighting for your specific heavy-lift fleet.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4. Define the fusion interface to the RF system (shared track format, time-sync).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9EDF1"/>
                </a:solidFill>
                <a:latin typeface="Calibri"/>
              </a:rPr>
              <a:t>•  5. Decide Phase 1 siting — where the field node lives, power, and backhaul.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7A18"/>
                </a:solidFill>
                <a:latin typeface="Calibri"/>
              </a:rPr>
              <a:t>•  Software prototype (drone_detect.py) is attached and already tested.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